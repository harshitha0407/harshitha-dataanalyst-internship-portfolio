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6" d="100"/>
          <a:sy n="76" d="100"/>
        </p:scale>
        <p:origin x="77"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100033-6FF6-40B9-B775-7F588B7E9726}"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12657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100033-6FF6-40B9-B775-7F588B7E9726}"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554039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100033-6FF6-40B9-B775-7F588B7E9726}"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4090306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35460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100033-6FF6-40B9-B775-7F588B7E9726}" type="datetimeFigureOut">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427664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100033-6FF6-40B9-B775-7F588B7E9726}"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41180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100033-6FF6-40B9-B775-7F588B7E9726}" type="datetimeFigureOut">
              <a:rPr lang="en-IN" smtClean="0"/>
              <a:t>22-06-2026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4186918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67357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598904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071609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765263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2877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100033-6FF6-40B9-B775-7F588B7E9726}"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360384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100033-6FF6-40B9-B775-7F588B7E9726}"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2828048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100033-6FF6-40B9-B775-7F588B7E9726}"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945594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100033-6FF6-40B9-B775-7F588B7E9726}"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196159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100033-6FF6-40B9-B775-7F588B7E9726}"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14A4AD-04C9-4AC6-838E-57F1002B90A4}" type="slidenum">
              <a:rPr lang="en-IN" smtClean="0"/>
              <a:t>‹#›</a:t>
            </a:fld>
            <a:endParaRPr lang="en-IN"/>
          </a:p>
        </p:txBody>
      </p:sp>
    </p:spTree>
    <p:extLst>
      <p:ext uri="{BB962C8B-B14F-4D97-AF65-F5344CB8AC3E}">
        <p14:creationId xmlns:p14="http://schemas.microsoft.com/office/powerpoint/2010/main" val="1672362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9100033-6FF6-40B9-B775-7F588B7E9726}" type="datetimeFigureOut">
              <a:rPr lang="en-IN" smtClean="0"/>
              <a:t>22-06-2026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914A4AD-04C9-4AC6-838E-57F1002B90A4}" type="slidenum">
              <a:rPr lang="en-IN" smtClean="0"/>
              <a:t>‹#›</a:t>
            </a:fld>
            <a:endParaRPr lang="en-IN"/>
          </a:p>
        </p:txBody>
      </p:sp>
    </p:spTree>
    <p:extLst>
      <p:ext uri="{BB962C8B-B14F-4D97-AF65-F5344CB8AC3E}">
        <p14:creationId xmlns:p14="http://schemas.microsoft.com/office/powerpoint/2010/main" val="425164172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6595-3AAC-022B-83DD-940F0B4955BC}"/>
              </a:ext>
            </a:extLst>
          </p:cNvPr>
          <p:cNvSpPr>
            <a:spLocks noGrp="1"/>
          </p:cNvSpPr>
          <p:nvPr>
            <p:ph type="ctrTitle"/>
          </p:nvPr>
        </p:nvSpPr>
        <p:spPr>
          <a:xfrm>
            <a:off x="120581" y="2009671"/>
            <a:ext cx="11997732" cy="1868994"/>
          </a:xfrm>
        </p:spPr>
        <p:txBody>
          <a:bodyPr>
            <a:normAutofit/>
          </a:bodyPr>
          <a:lstStyle/>
          <a:p>
            <a:r>
              <a:rPr lang="en-US" dirty="0"/>
              <a:t>DATA STORYTELLING &amp; STATISTICAL VALIDATION</a:t>
            </a:r>
            <a:endParaRPr lang="en-IN" dirty="0"/>
          </a:p>
        </p:txBody>
      </p:sp>
      <p:sp>
        <p:nvSpPr>
          <p:cNvPr id="3" name="Subtitle 2">
            <a:extLst>
              <a:ext uri="{FF2B5EF4-FFF2-40B4-BE49-F238E27FC236}">
                <a16:creationId xmlns:a16="http://schemas.microsoft.com/office/drawing/2014/main" id="{5893C72C-4051-FA1E-1C2E-19886665E8E1}"/>
              </a:ext>
            </a:extLst>
          </p:cNvPr>
          <p:cNvSpPr>
            <a:spLocks noGrp="1"/>
          </p:cNvSpPr>
          <p:nvPr>
            <p:ph type="subTitle" idx="1"/>
          </p:nvPr>
        </p:nvSpPr>
        <p:spPr>
          <a:xfrm>
            <a:off x="1595269" y="4240404"/>
            <a:ext cx="9001462" cy="1017395"/>
          </a:xfrm>
        </p:spPr>
        <p:txBody>
          <a:bodyPr/>
          <a:lstStyle/>
          <a:p>
            <a:r>
              <a:rPr lang="en-US" dirty="0"/>
              <a:t>CAFE SALES ANALYSIS PROJECT </a:t>
            </a:r>
            <a:endParaRPr lang="en-IN" dirty="0"/>
          </a:p>
        </p:txBody>
      </p:sp>
    </p:spTree>
    <p:extLst>
      <p:ext uri="{BB962C8B-B14F-4D97-AF65-F5344CB8AC3E}">
        <p14:creationId xmlns:p14="http://schemas.microsoft.com/office/powerpoint/2010/main" val="360920604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A10C-0E04-9D47-9FF7-8D4975DA2585}"/>
              </a:ext>
            </a:extLst>
          </p:cNvPr>
          <p:cNvSpPr>
            <a:spLocks noGrp="1"/>
          </p:cNvSpPr>
          <p:nvPr>
            <p:ph type="title"/>
          </p:nvPr>
        </p:nvSpPr>
        <p:spPr/>
        <p:txBody>
          <a:bodyPr/>
          <a:lstStyle/>
          <a:p>
            <a:pPr algn="l"/>
            <a:r>
              <a:rPr lang="en-US" dirty="0"/>
              <a:t>PROJECT OBJECTIVE</a:t>
            </a:r>
            <a:endParaRPr lang="en-IN" dirty="0"/>
          </a:p>
        </p:txBody>
      </p:sp>
      <p:sp>
        <p:nvSpPr>
          <p:cNvPr id="3" name="Content Placeholder 2">
            <a:extLst>
              <a:ext uri="{FF2B5EF4-FFF2-40B4-BE49-F238E27FC236}">
                <a16:creationId xmlns:a16="http://schemas.microsoft.com/office/drawing/2014/main" id="{53B3E8E1-8F28-4248-C624-7EB102306A81}"/>
              </a:ext>
            </a:extLst>
          </p:cNvPr>
          <p:cNvSpPr>
            <a:spLocks noGrp="1"/>
          </p:cNvSpPr>
          <p:nvPr>
            <p:ph idx="1"/>
          </p:nvPr>
        </p:nvSpPr>
        <p:spPr/>
        <p:txBody>
          <a:bodyPr/>
          <a:lstStyle/>
          <a:p>
            <a:r>
              <a:rPr lang="en-US" dirty="0"/>
              <a:t>The objective of this project was to analyze café sales data</a:t>
            </a:r>
          </a:p>
          <a:p>
            <a:r>
              <a:rPr lang="en-US" dirty="0"/>
              <a:t>Also clean inconsistencies in the dataset, identify business trends</a:t>
            </a:r>
          </a:p>
          <a:p>
            <a:r>
              <a:rPr lang="en-US" dirty="0"/>
              <a:t>And create interactive dashboards, and provide actionable insights.</a:t>
            </a:r>
          </a:p>
          <a:p>
            <a:r>
              <a:rPr lang="en-US" dirty="0"/>
              <a:t>To improve sales performance and customer satisfaction.</a:t>
            </a:r>
            <a:endParaRPr lang="en-IN" dirty="0"/>
          </a:p>
        </p:txBody>
      </p:sp>
    </p:spTree>
    <p:extLst>
      <p:ext uri="{BB962C8B-B14F-4D97-AF65-F5344CB8AC3E}">
        <p14:creationId xmlns:p14="http://schemas.microsoft.com/office/powerpoint/2010/main" val="3232133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746BD-E7DE-DAF8-A5EB-11ED8E07967B}"/>
              </a:ext>
            </a:extLst>
          </p:cNvPr>
          <p:cNvSpPr>
            <a:spLocks noGrp="1"/>
          </p:cNvSpPr>
          <p:nvPr>
            <p:ph type="title"/>
          </p:nvPr>
        </p:nvSpPr>
        <p:spPr>
          <a:xfrm>
            <a:off x="913795" y="609601"/>
            <a:ext cx="10353762" cy="1741713"/>
          </a:xfrm>
        </p:spPr>
        <p:txBody>
          <a:bodyPr>
            <a:normAutofit/>
          </a:bodyPr>
          <a:lstStyle/>
          <a:p>
            <a:pPr algn="l"/>
            <a:r>
              <a:rPr lang="en-US" dirty="0"/>
              <a:t>DATASET OVERVIEW</a:t>
            </a:r>
            <a:br>
              <a:rPr lang="en-US" dirty="0"/>
            </a:br>
            <a:endParaRPr lang="en-IN" dirty="0"/>
          </a:p>
        </p:txBody>
      </p:sp>
      <p:sp>
        <p:nvSpPr>
          <p:cNvPr id="3" name="Text Placeholder 2">
            <a:extLst>
              <a:ext uri="{FF2B5EF4-FFF2-40B4-BE49-F238E27FC236}">
                <a16:creationId xmlns:a16="http://schemas.microsoft.com/office/drawing/2014/main" id="{91C6A971-77FF-B106-81C5-324649565237}"/>
              </a:ext>
            </a:extLst>
          </p:cNvPr>
          <p:cNvSpPr>
            <a:spLocks noGrp="1"/>
          </p:cNvSpPr>
          <p:nvPr>
            <p:ph type="body" sz="half" idx="2"/>
          </p:nvPr>
        </p:nvSpPr>
        <p:spPr>
          <a:xfrm>
            <a:off x="913795" y="1436915"/>
            <a:ext cx="10353761" cy="4883498"/>
          </a:xfrm>
        </p:spPr>
        <p:txBody>
          <a:bodyPr>
            <a:normAutofit fontScale="25000" lnSpcReduction="20000"/>
          </a:bodyPr>
          <a:lstStyle/>
          <a:p>
            <a:pPr algn="l"/>
            <a:endParaRPr lang="en-US" dirty="0"/>
          </a:p>
          <a:p>
            <a:pPr algn="l"/>
            <a:endParaRPr lang="en-US" dirty="0"/>
          </a:p>
          <a:p>
            <a:pPr algn="l"/>
            <a:endParaRPr lang="en-US" dirty="0"/>
          </a:p>
          <a:p>
            <a:pPr algn="l"/>
            <a:r>
              <a:rPr lang="en-US" sz="7200" dirty="0"/>
              <a:t>Dataset Name : Dirty Café Sales</a:t>
            </a:r>
          </a:p>
          <a:p>
            <a:pPr algn="l"/>
            <a:r>
              <a:rPr lang="en-US" sz="7200" dirty="0"/>
              <a:t>The dataset contains information related to:</a:t>
            </a:r>
          </a:p>
          <a:p>
            <a:pPr marL="285750" indent="-285750" algn="l">
              <a:buFontTx/>
              <a:buChar char="-"/>
            </a:pPr>
            <a:r>
              <a:rPr lang="en-US" sz="7200" dirty="0"/>
              <a:t>Product sales</a:t>
            </a:r>
          </a:p>
          <a:p>
            <a:pPr marL="285750" indent="-285750" algn="l">
              <a:buFontTx/>
              <a:buChar char="-"/>
            </a:pPr>
            <a:r>
              <a:rPr lang="en-US" sz="7200" dirty="0"/>
              <a:t>Quantity sold</a:t>
            </a:r>
          </a:p>
          <a:p>
            <a:pPr marL="285750" indent="-285750" algn="l">
              <a:buFontTx/>
              <a:buChar char="-"/>
            </a:pPr>
            <a:r>
              <a:rPr lang="en-US" sz="7200" dirty="0"/>
              <a:t>Location </a:t>
            </a:r>
          </a:p>
          <a:p>
            <a:pPr marL="285750" indent="-285750" algn="l">
              <a:buFontTx/>
              <a:buChar char="-"/>
            </a:pPr>
            <a:r>
              <a:rPr lang="en-US" sz="7200" dirty="0"/>
              <a:t>Customer Transaction</a:t>
            </a:r>
          </a:p>
          <a:p>
            <a:pPr marL="285750" indent="-285750" algn="l">
              <a:buFontTx/>
              <a:buChar char="-"/>
            </a:pPr>
            <a:r>
              <a:rPr lang="en-US" sz="7200" dirty="0"/>
              <a:t>Payment Methods</a:t>
            </a:r>
          </a:p>
          <a:p>
            <a:pPr marL="285750" indent="-285750" algn="l">
              <a:buFontTx/>
              <a:buChar char="-"/>
            </a:pPr>
            <a:r>
              <a:rPr lang="en-US" sz="7200" dirty="0"/>
              <a:t>Sales Dates</a:t>
            </a:r>
          </a:p>
          <a:p>
            <a:pPr algn="l"/>
            <a:endParaRPr lang="en-US" sz="7200" dirty="0"/>
          </a:p>
          <a:p>
            <a:pPr algn="l"/>
            <a:r>
              <a:rPr lang="en-US" sz="7200" dirty="0"/>
              <a:t>The dataset initially contained inconsistencies and missing values which were corrected during the data cleaning process.</a:t>
            </a:r>
          </a:p>
          <a:p>
            <a:pPr algn="l"/>
            <a:endParaRPr lang="en-US" dirty="0"/>
          </a:p>
          <a:p>
            <a:pPr marL="285750" indent="-285750" algn="l">
              <a:buFontTx/>
              <a:buChar char="-"/>
            </a:pPr>
            <a:endParaRPr lang="en-US" dirty="0"/>
          </a:p>
          <a:p>
            <a:pPr algn="l"/>
            <a:endParaRPr lang="en-US" dirty="0"/>
          </a:p>
        </p:txBody>
      </p:sp>
    </p:spTree>
    <p:extLst>
      <p:ext uri="{BB962C8B-B14F-4D97-AF65-F5344CB8AC3E}">
        <p14:creationId xmlns:p14="http://schemas.microsoft.com/office/powerpoint/2010/main" val="140739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23B58-6681-17BB-7EE1-1E7296C2B848}"/>
              </a:ext>
            </a:extLst>
          </p:cNvPr>
          <p:cNvSpPr>
            <a:spLocks noGrp="1"/>
          </p:cNvSpPr>
          <p:nvPr>
            <p:ph type="title"/>
          </p:nvPr>
        </p:nvSpPr>
        <p:spPr>
          <a:xfrm>
            <a:off x="913795" y="609600"/>
            <a:ext cx="10353762" cy="1420167"/>
          </a:xfrm>
        </p:spPr>
        <p:txBody>
          <a:bodyPr/>
          <a:lstStyle/>
          <a:p>
            <a:pPr algn="l"/>
            <a:r>
              <a:rPr lang="en-IN" dirty="0"/>
              <a:t>Data Cleaning Summary</a:t>
            </a:r>
          </a:p>
        </p:txBody>
      </p:sp>
      <p:sp>
        <p:nvSpPr>
          <p:cNvPr id="3" name="Text Placeholder 2">
            <a:extLst>
              <a:ext uri="{FF2B5EF4-FFF2-40B4-BE49-F238E27FC236}">
                <a16:creationId xmlns:a16="http://schemas.microsoft.com/office/drawing/2014/main" id="{B4AC0FB9-4C23-1C05-F147-CE81842EF311}"/>
              </a:ext>
            </a:extLst>
          </p:cNvPr>
          <p:cNvSpPr>
            <a:spLocks noGrp="1"/>
          </p:cNvSpPr>
          <p:nvPr>
            <p:ph type="body" sz="half" idx="2"/>
          </p:nvPr>
        </p:nvSpPr>
        <p:spPr>
          <a:xfrm>
            <a:off x="913795" y="1647930"/>
            <a:ext cx="10353761" cy="4149076"/>
          </a:xfrm>
        </p:spPr>
        <p:txBody>
          <a:bodyPr>
            <a:normAutofit/>
          </a:bodyPr>
          <a:lstStyle/>
          <a:p>
            <a:pPr algn="l"/>
            <a:r>
              <a:rPr lang="en-US" sz="2000" dirty="0"/>
              <a:t>The following data cleaning activities were performed:</a:t>
            </a:r>
          </a:p>
          <a:p>
            <a:pPr marL="285750" indent="-285750" algn="l">
              <a:buFontTx/>
              <a:buChar char="-"/>
            </a:pPr>
            <a:r>
              <a:rPr lang="en-US" sz="2000" dirty="0"/>
              <a:t>Missing values identified and handled</a:t>
            </a:r>
          </a:p>
          <a:p>
            <a:pPr marL="285750" indent="-285750" algn="l">
              <a:buFontTx/>
              <a:buChar char="-"/>
            </a:pPr>
            <a:r>
              <a:rPr lang="en-US" sz="2000" dirty="0"/>
              <a:t>Duplicate records checked and removed</a:t>
            </a:r>
          </a:p>
          <a:p>
            <a:pPr marL="285750" indent="-285750" algn="l">
              <a:buFontTx/>
              <a:buChar char="-"/>
            </a:pPr>
            <a:r>
              <a:rPr lang="en-US" sz="2000" dirty="0"/>
              <a:t>Incorrect data formats corrected</a:t>
            </a:r>
          </a:p>
          <a:p>
            <a:pPr marL="285750" indent="-285750" algn="l">
              <a:buFontTx/>
              <a:buChar char="-"/>
            </a:pPr>
            <a:r>
              <a:rPr lang="en-US" sz="2000" dirty="0"/>
              <a:t>Data consistency improved </a:t>
            </a:r>
          </a:p>
          <a:p>
            <a:pPr marL="285750" indent="-285750" algn="l">
              <a:buFontTx/>
              <a:buChar char="-"/>
            </a:pPr>
            <a:r>
              <a:rPr lang="en-US" sz="2000" dirty="0"/>
              <a:t>Dataset transformed into a clean and reliable format</a:t>
            </a:r>
          </a:p>
          <a:p>
            <a:pPr algn="l"/>
            <a:r>
              <a:rPr lang="en-US" sz="2000" dirty="0"/>
              <a:t>Result:</a:t>
            </a:r>
          </a:p>
          <a:p>
            <a:pPr algn="l"/>
            <a:r>
              <a:rPr lang="en-US" sz="2000" dirty="0"/>
              <a:t>The dataset became suitable for analysis and visualization.</a:t>
            </a:r>
            <a:endParaRPr lang="en-IN" sz="2000" dirty="0"/>
          </a:p>
        </p:txBody>
      </p:sp>
    </p:spTree>
    <p:extLst>
      <p:ext uri="{BB962C8B-B14F-4D97-AF65-F5344CB8AC3E}">
        <p14:creationId xmlns:p14="http://schemas.microsoft.com/office/powerpoint/2010/main" val="221653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DCE-4560-EA78-CF34-29DD8B72DD26}"/>
              </a:ext>
            </a:extLst>
          </p:cNvPr>
          <p:cNvSpPr>
            <a:spLocks noGrp="1"/>
          </p:cNvSpPr>
          <p:nvPr>
            <p:ph type="title"/>
          </p:nvPr>
        </p:nvSpPr>
        <p:spPr>
          <a:xfrm>
            <a:off x="913795" y="609601"/>
            <a:ext cx="10353762" cy="1319684"/>
          </a:xfrm>
        </p:spPr>
        <p:txBody>
          <a:bodyPr/>
          <a:lstStyle/>
          <a:p>
            <a:pPr algn="l"/>
            <a:r>
              <a:rPr lang="en-US" dirty="0"/>
              <a:t>EXPLORATORY DATA ANALYSIS</a:t>
            </a:r>
            <a:endParaRPr lang="en-IN" dirty="0"/>
          </a:p>
        </p:txBody>
      </p:sp>
      <p:sp>
        <p:nvSpPr>
          <p:cNvPr id="3" name="Text Placeholder 2">
            <a:extLst>
              <a:ext uri="{FF2B5EF4-FFF2-40B4-BE49-F238E27FC236}">
                <a16:creationId xmlns:a16="http://schemas.microsoft.com/office/drawing/2014/main" id="{7E33181F-2A96-05FA-D70E-A0DF83E6A658}"/>
              </a:ext>
            </a:extLst>
          </p:cNvPr>
          <p:cNvSpPr>
            <a:spLocks noGrp="1"/>
          </p:cNvSpPr>
          <p:nvPr>
            <p:ph type="body" sz="half" idx="2"/>
          </p:nvPr>
        </p:nvSpPr>
        <p:spPr>
          <a:xfrm>
            <a:off x="913795" y="1929284"/>
            <a:ext cx="10353761" cy="2999431"/>
          </a:xfrm>
        </p:spPr>
        <p:txBody>
          <a:bodyPr/>
          <a:lstStyle/>
          <a:p>
            <a:pPr algn="l"/>
            <a:r>
              <a:rPr lang="en-US" sz="2000" dirty="0"/>
              <a:t>Key Findings from EDA :</a:t>
            </a:r>
          </a:p>
          <a:p>
            <a:pPr marL="285750" indent="-285750" algn="l">
              <a:buFontTx/>
              <a:buChar char="-"/>
            </a:pPr>
            <a:r>
              <a:rPr lang="en-US" sz="2000" dirty="0"/>
              <a:t>Customers belong to a wide range of age groups.</a:t>
            </a:r>
          </a:p>
          <a:p>
            <a:pPr marL="285750" indent="-285750" algn="l">
              <a:buFontTx/>
              <a:buChar char="-"/>
            </a:pPr>
            <a:r>
              <a:rPr lang="en-US" sz="2000" dirty="0"/>
              <a:t>Female customers make more purchases than male customers.</a:t>
            </a:r>
          </a:p>
          <a:p>
            <a:pPr marL="285750" indent="-285750" algn="l">
              <a:buFontTx/>
              <a:buChar char="-"/>
            </a:pPr>
            <a:r>
              <a:rPr lang="en-US" sz="2000" dirty="0"/>
              <a:t>Most purchases are low to moderate in value.</a:t>
            </a:r>
          </a:p>
          <a:p>
            <a:pPr marL="285750" indent="-285750" algn="l">
              <a:buFontTx/>
              <a:buChar char="-"/>
            </a:pPr>
            <a:r>
              <a:rPr lang="en-US" sz="2000" dirty="0"/>
              <a:t>Age has little impact on spending behavior.</a:t>
            </a:r>
          </a:p>
          <a:p>
            <a:pPr marL="285750" indent="-285750" algn="l">
              <a:buFontTx/>
              <a:buChar char="-"/>
            </a:pPr>
            <a:r>
              <a:rPr lang="en-US" sz="2000" dirty="0"/>
              <a:t>Quantity and price show a moderate positive relationship.</a:t>
            </a:r>
          </a:p>
          <a:p>
            <a:endParaRPr lang="en-IN" dirty="0"/>
          </a:p>
        </p:txBody>
      </p:sp>
    </p:spTree>
    <p:extLst>
      <p:ext uri="{BB962C8B-B14F-4D97-AF65-F5344CB8AC3E}">
        <p14:creationId xmlns:p14="http://schemas.microsoft.com/office/powerpoint/2010/main" val="1678437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348BD-EFB4-3D19-6128-C9180F0F72D6}"/>
              </a:ext>
            </a:extLst>
          </p:cNvPr>
          <p:cNvSpPr>
            <a:spLocks noGrp="1"/>
          </p:cNvSpPr>
          <p:nvPr>
            <p:ph type="title"/>
          </p:nvPr>
        </p:nvSpPr>
        <p:spPr>
          <a:xfrm>
            <a:off x="913795" y="609601"/>
            <a:ext cx="10353762" cy="1359876"/>
          </a:xfrm>
        </p:spPr>
        <p:txBody>
          <a:bodyPr/>
          <a:lstStyle/>
          <a:p>
            <a:pPr algn="l"/>
            <a:r>
              <a:rPr lang="en-US" dirty="0"/>
              <a:t>SQL ANALYSIS INSIGHTS</a:t>
            </a:r>
            <a:endParaRPr lang="en-IN" dirty="0"/>
          </a:p>
        </p:txBody>
      </p:sp>
      <p:sp>
        <p:nvSpPr>
          <p:cNvPr id="3" name="Text Placeholder 2">
            <a:extLst>
              <a:ext uri="{FF2B5EF4-FFF2-40B4-BE49-F238E27FC236}">
                <a16:creationId xmlns:a16="http://schemas.microsoft.com/office/drawing/2014/main" id="{55EAD6FD-9D3B-1836-15E8-B1A02056762E}"/>
              </a:ext>
            </a:extLst>
          </p:cNvPr>
          <p:cNvSpPr>
            <a:spLocks noGrp="1"/>
          </p:cNvSpPr>
          <p:nvPr>
            <p:ph type="body" sz="half" idx="2"/>
          </p:nvPr>
        </p:nvSpPr>
        <p:spPr>
          <a:xfrm>
            <a:off x="913795" y="1738365"/>
            <a:ext cx="10353761" cy="4510034"/>
          </a:xfrm>
        </p:spPr>
        <p:txBody>
          <a:bodyPr/>
          <a:lstStyle/>
          <a:p>
            <a:pPr algn="l"/>
            <a:r>
              <a:rPr lang="en-US" sz="2000" dirty="0"/>
              <a:t>SQL Queries were used to analyze:</a:t>
            </a:r>
          </a:p>
          <a:p>
            <a:pPr marL="285750" indent="-285750" algn="l">
              <a:buFontTx/>
              <a:buChar char="-"/>
            </a:pPr>
            <a:r>
              <a:rPr lang="en-US" sz="2000" dirty="0"/>
              <a:t>Total revenue </a:t>
            </a:r>
          </a:p>
          <a:p>
            <a:pPr marL="285750" indent="-285750" algn="l">
              <a:buFontTx/>
              <a:buChar char="-"/>
            </a:pPr>
            <a:r>
              <a:rPr lang="en-US" sz="2000" dirty="0"/>
              <a:t>Best selling products</a:t>
            </a:r>
          </a:p>
          <a:p>
            <a:pPr marL="285750" indent="-285750" algn="l">
              <a:buFontTx/>
              <a:buChar char="-"/>
            </a:pPr>
            <a:r>
              <a:rPr lang="en-US" sz="2000" dirty="0"/>
              <a:t>Product wise sales performance</a:t>
            </a:r>
          </a:p>
          <a:p>
            <a:pPr marL="285750" indent="-285750" algn="l">
              <a:buFontTx/>
              <a:buChar char="-"/>
            </a:pPr>
            <a:r>
              <a:rPr lang="en-US" sz="2000" dirty="0"/>
              <a:t>Customer transaction patterns</a:t>
            </a:r>
          </a:p>
          <a:p>
            <a:pPr marL="285750" indent="-285750" algn="l">
              <a:buFontTx/>
              <a:buChar char="-"/>
            </a:pPr>
            <a:r>
              <a:rPr lang="en-US" sz="2000" dirty="0"/>
              <a:t>Revenue distribution</a:t>
            </a:r>
          </a:p>
          <a:p>
            <a:pPr algn="l"/>
            <a:r>
              <a:rPr lang="en-US" sz="2000" dirty="0"/>
              <a:t>The analysis helped identify products that contributed most to café revenue.</a:t>
            </a:r>
          </a:p>
          <a:p>
            <a:pPr algn="l"/>
            <a:endParaRPr lang="en-US" sz="2000" dirty="0"/>
          </a:p>
          <a:p>
            <a:endParaRPr lang="en-IN" dirty="0"/>
          </a:p>
        </p:txBody>
      </p:sp>
    </p:spTree>
    <p:extLst>
      <p:ext uri="{BB962C8B-B14F-4D97-AF65-F5344CB8AC3E}">
        <p14:creationId xmlns:p14="http://schemas.microsoft.com/office/powerpoint/2010/main" val="3252406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AF83-CF0F-301F-3773-25B90D219FDB}"/>
              </a:ext>
            </a:extLst>
          </p:cNvPr>
          <p:cNvSpPr>
            <a:spLocks noGrp="1"/>
          </p:cNvSpPr>
          <p:nvPr>
            <p:ph type="title"/>
          </p:nvPr>
        </p:nvSpPr>
        <p:spPr>
          <a:xfrm>
            <a:off x="-572756" y="609600"/>
            <a:ext cx="4903596" cy="1249345"/>
          </a:xfrm>
        </p:spPr>
        <p:txBody>
          <a:bodyPr>
            <a:normAutofit/>
          </a:bodyPr>
          <a:lstStyle/>
          <a:p>
            <a:r>
              <a:rPr lang="en-US" dirty="0"/>
              <a:t>DASHBOARD HIGHLIGHTS</a:t>
            </a:r>
            <a:endParaRPr lang="en-IN" dirty="0"/>
          </a:p>
        </p:txBody>
      </p:sp>
      <p:pic>
        <p:nvPicPr>
          <p:cNvPr id="6" name="Picture Placeholder 5">
            <a:extLst>
              <a:ext uri="{FF2B5EF4-FFF2-40B4-BE49-F238E27FC236}">
                <a16:creationId xmlns:a16="http://schemas.microsoft.com/office/drawing/2014/main" id="{7E620567-115E-E20F-5999-A4B35216601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614" t="18001" r="37290" b="7198"/>
          <a:stretch>
            <a:fillRect/>
          </a:stretch>
        </p:blipFill>
        <p:spPr>
          <a:xfrm>
            <a:off x="4494962" y="1234272"/>
            <a:ext cx="7295104" cy="3652575"/>
          </a:xfrm>
          <a:prstGeom prst="rect">
            <a:avLst/>
          </a:prstGeo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a:extLst>
              <a:ext uri="{FF2B5EF4-FFF2-40B4-BE49-F238E27FC236}">
                <a16:creationId xmlns:a16="http://schemas.microsoft.com/office/drawing/2014/main" id="{5697E4FC-B435-B718-23B5-C2B2F8645279}"/>
              </a:ext>
            </a:extLst>
          </p:cNvPr>
          <p:cNvSpPr>
            <a:spLocks noGrp="1"/>
          </p:cNvSpPr>
          <p:nvPr>
            <p:ph type="body" sz="half" idx="2"/>
          </p:nvPr>
        </p:nvSpPr>
        <p:spPr>
          <a:xfrm>
            <a:off x="401934" y="1949380"/>
            <a:ext cx="4019341" cy="4299020"/>
          </a:xfrm>
        </p:spPr>
        <p:txBody>
          <a:bodyPr>
            <a:normAutofit/>
          </a:bodyPr>
          <a:lstStyle/>
          <a:p>
            <a:pPr marL="285750" indent="-285750" algn="l">
              <a:buFontTx/>
              <a:buChar char="-"/>
            </a:pPr>
            <a:r>
              <a:rPr lang="en-US" dirty="0"/>
              <a:t>Revenue monitoring</a:t>
            </a:r>
          </a:p>
          <a:p>
            <a:pPr marL="285750" indent="-285750" algn="l">
              <a:buFontTx/>
              <a:buChar char="-"/>
            </a:pPr>
            <a:r>
              <a:rPr lang="en-US" dirty="0"/>
              <a:t>Product performance analysis</a:t>
            </a:r>
          </a:p>
          <a:p>
            <a:pPr marL="285750" indent="-285750" algn="l">
              <a:buFontTx/>
              <a:buChar char="-"/>
            </a:pPr>
            <a:r>
              <a:rPr lang="en-US" dirty="0"/>
              <a:t>Sales trend visualization </a:t>
            </a:r>
          </a:p>
          <a:p>
            <a:pPr marL="285750" indent="-285750" algn="l">
              <a:buFontTx/>
              <a:buChar char="-"/>
            </a:pPr>
            <a:r>
              <a:rPr lang="en-US" dirty="0"/>
              <a:t>Interactive filters</a:t>
            </a:r>
          </a:p>
          <a:p>
            <a:pPr marL="285750" indent="-285750" algn="l">
              <a:buFontTx/>
              <a:buChar char="-"/>
            </a:pPr>
            <a:r>
              <a:rPr lang="en-US" dirty="0"/>
              <a:t>Business performance tracking</a:t>
            </a:r>
          </a:p>
          <a:p>
            <a:pPr algn="l"/>
            <a:r>
              <a:rPr lang="en-US" dirty="0"/>
              <a:t>The dashboard enables quick decision making through visual insights.</a:t>
            </a:r>
          </a:p>
          <a:p>
            <a:pPr marL="285750" indent="-285750">
              <a:buFontTx/>
              <a:buChar char="-"/>
            </a:pPr>
            <a:endParaRPr lang="en-IN" dirty="0"/>
          </a:p>
        </p:txBody>
      </p:sp>
    </p:spTree>
    <p:extLst>
      <p:ext uri="{BB962C8B-B14F-4D97-AF65-F5344CB8AC3E}">
        <p14:creationId xmlns:p14="http://schemas.microsoft.com/office/powerpoint/2010/main" val="11601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2E45-D93D-63C6-6CAF-F76DF4CD065F}"/>
              </a:ext>
            </a:extLst>
          </p:cNvPr>
          <p:cNvSpPr>
            <a:spLocks noGrp="1"/>
          </p:cNvSpPr>
          <p:nvPr>
            <p:ph type="title"/>
          </p:nvPr>
        </p:nvSpPr>
        <p:spPr>
          <a:xfrm>
            <a:off x="913795" y="609601"/>
            <a:ext cx="10353762" cy="1440264"/>
          </a:xfrm>
        </p:spPr>
        <p:txBody>
          <a:bodyPr/>
          <a:lstStyle/>
          <a:p>
            <a:pPr algn="l"/>
            <a:r>
              <a:rPr lang="en-IN" dirty="0"/>
              <a:t> business Recommendations</a:t>
            </a:r>
          </a:p>
        </p:txBody>
      </p:sp>
      <p:sp>
        <p:nvSpPr>
          <p:cNvPr id="3" name="Text Placeholder 2">
            <a:extLst>
              <a:ext uri="{FF2B5EF4-FFF2-40B4-BE49-F238E27FC236}">
                <a16:creationId xmlns:a16="http://schemas.microsoft.com/office/drawing/2014/main" id="{BEF8CB29-A629-3186-1268-19A500712BE5}"/>
              </a:ext>
            </a:extLst>
          </p:cNvPr>
          <p:cNvSpPr>
            <a:spLocks noGrp="1"/>
          </p:cNvSpPr>
          <p:nvPr>
            <p:ph type="body" sz="half" idx="2"/>
          </p:nvPr>
        </p:nvSpPr>
        <p:spPr>
          <a:xfrm>
            <a:off x="913795" y="1637882"/>
            <a:ext cx="10353761" cy="2903974"/>
          </a:xfrm>
        </p:spPr>
        <p:txBody>
          <a:bodyPr>
            <a:normAutofit/>
          </a:bodyPr>
          <a:lstStyle/>
          <a:p>
            <a:pPr marL="285750" indent="-285750" algn="l">
              <a:buFontTx/>
              <a:buChar char="-"/>
            </a:pPr>
            <a:r>
              <a:rPr lang="en-US" sz="2000" dirty="0"/>
              <a:t>Increase promotion of top-selling products.</a:t>
            </a:r>
          </a:p>
          <a:p>
            <a:pPr marL="285750" indent="-285750" algn="l">
              <a:buFontTx/>
              <a:buChar char="-"/>
            </a:pPr>
            <a:r>
              <a:rPr lang="en-US" sz="2000" dirty="0"/>
              <a:t>Improve visibility of high-profit items.</a:t>
            </a:r>
          </a:p>
          <a:p>
            <a:pPr marL="285750" indent="-285750" algn="l">
              <a:buFontTx/>
              <a:buChar char="-"/>
            </a:pPr>
            <a:r>
              <a:rPr lang="en-US" sz="2000" dirty="0"/>
              <a:t>Optimize inventory based on demand trends.</a:t>
            </a:r>
          </a:p>
          <a:p>
            <a:pPr marL="285750" indent="-285750" algn="l">
              <a:buFontTx/>
              <a:buChar char="-"/>
            </a:pPr>
            <a:r>
              <a:rPr lang="en-US" sz="2000" dirty="0"/>
              <a:t>Focus marketing efforts on popular product categories.</a:t>
            </a:r>
          </a:p>
          <a:p>
            <a:pPr marL="285750" indent="-285750" algn="l">
              <a:buFontTx/>
              <a:buChar char="-"/>
            </a:pPr>
            <a:r>
              <a:rPr lang="en-US" sz="2000" dirty="0"/>
              <a:t>Monitor sales regularly using dashboards.</a:t>
            </a:r>
            <a:endParaRPr lang="en-IN" sz="2000" dirty="0"/>
          </a:p>
        </p:txBody>
      </p:sp>
    </p:spTree>
    <p:extLst>
      <p:ext uri="{BB962C8B-B14F-4D97-AF65-F5344CB8AC3E}">
        <p14:creationId xmlns:p14="http://schemas.microsoft.com/office/powerpoint/2010/main" val="283138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3426-3FF2-693D-5E67-C05836700950}"/>
              </a:ext>
            </a:extLst>
          </p:cNvPr>
          <p:cNvSpPr>
            <a:spLocks noGrp="1"/>
          </p:cNvSpPr>
          <p:nvPr>
            <p:ph type="title"/>
          </p:nvPr>
        </p:nvSpPr>
        <p:spPr>
          <a:xfrm>
            <a:off x="913795" y="609600"/>
            <a:ext cx="10353762" cy="1490505"/>
          </a:xfrm>
        </p:spPr>
        <p:txBody>
          <a:bodyPr/>
          <a:lstStyle/>
          <a:p>
            <a:pPr algn="l"/>
            <a:r>
              <a:rPr lang="en-US" dirty="0"/>
              <a:t>conclusion</a:t>
            </a:r>
            <a:endParaRPr lang="en-IN" dirty="0"/>
          </a:p>
        </p:txBody>
      </p:sp>
      <p:sp>
        <p:nvSpPr>
          <p:cNvPr id="3" name="Text Placeholder 2">
            <a:extLst>
              <a:ext uri="{FF2B5EF4-FFF2-40B4-BE49-F238E27FC236}">
                <a16:creationId xmlns:a16="http://schemas.microsoft.com/office/drawing/2014/main" id="{2BFAD9C5-EBD0-4F9A-C3B5-4E86F4C1CC1F}"/>
              </a:ext>
            </a:extLst>
          </p:cNvPr>
          <p:cNvSpPr>
            <a:spLocks noGrp="1"/>
          </p:cNvSpPr>
          <p:nvPr>
            <p:ph type="body" sz="half" idx="2"/>
          </p:nvPr>
        </p:nvSpPr>
        <p:spPr>
          <a:xfrm>
            <a:off x="913795" y="1708220"/>
            <a:ext cx="10353761" cy="2019718"/>
          </a:xfrm>
        </p:spPr>
        <p:txBody>
          <a:bodyPr>
            <a:normAutofit/>
          </a:bodyPr>
          <a:lstStyle/>
          <a:p>
            <a:pPr algn="l"/>
            <a:r>
              <a:rPr lang="en-US" sz="2000" dirty="0"/>
              <a:t>The Dirty Cafe Sales dataset was successfully cleaned, analyzed, and transformed into meaningful business insights. Through data cleaning, SQL analysis, dashboard creation, and statistical validation, valuable recommendations were identified to support business growth and better decision-making.</a:t>
            </a:r>
            <a:endParaRPr lang="en-IN" sz="2000" dirty="0"/>
          </a:p>
        </p:txBody>
      </p:sp>
    </p:spTree>
    <p:extLst>
      <p:ext uri="{BB962C8B-B14F-4D97-AF65-F5344CB8AC3E}">
        <p14:creationId xmlns:p14="http://schemas.microsoft.com/office/powerpoint/2010/main" val="397089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BF15B-7914-A524-6A5E-D1A14BFB0C81}"/>
              </a:ext>
            </a:extLst>
          </p:cNvPr>
          <p:cNvSpPr>
            <a:spLocks noGrp="1"/>
          </p:cNvSpPr>
          <p:nvPr>
            <p:ph type="title"/>
          </p:nvPr>
        </p:nvSpPr>
        <p:spPr>
          <a:xfrm>
            <a:off x="913795" y="2059912"/>
            <a:ext cx="10353762" cy="2301073"/>
          </a:xfrm>
        </p:spPr>
        <p:txBody>
          <a:bodyPr/>
          <a:lstStyle/>
          <a:p>
            <a:r>
              <a:rPr lang="en-US" dirty="0"/>
              <a:t>Thank you</a:t>
            </a:r>
            <a:endParaRPr lang="en-IN" dirty="0"/>
          </a:p>
        </p:txBody>
      </p:sp>
      <p:sp>
        <p:nvSpPr>
          <p:cNvPr id="3" name="Text Placeholder 2">
            <a:extLst>
              <a:ext uri="{FF2B5EF4-FFF2-40B4-BE49-F238E27FC236}">
                <a16:creationId xmlns:a16="http://schemas.microsoft.com/office/drawing/2014/main" id="{B4032696-6974-5D80-7D58-A42AF2E22485}"/>
              </a:ext>
            </a:extLst>
          </p:cNvPr>
          <p:cNvSpPr>
            <a:spLocks noGrp="1"/>
          </p:cNvSpPr>
          <p:nvPr>
            <p:ph type="body" sz="half" idx="2"/>
          </p:nvPr>
        </p:nvSpPr>
        <p:spPr/>
        <p:txBody>
          <a:bodyPr/>
          <a:lstStyle/>
          <a:p>
            <a:r>
              <a:rPr lang="en-US" dirty="0"/>
              <a:t> </a:t>
            </a:r>
            <a:endParaRPr lang="en-IN" dirty="0"/>
          </a:p>
        </p:txBody>
      </p:sp>
    </p:spTree>
    <p:extLst>
      <p:ext uri="{BB962C8B-B14F-4D97-AF65-F5344CB8AC3E}">
        <p14:creationId xmlns:p14="http://schemas.microsoft.com/office/powerpoint/2010/main" val="3499091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61</TotalTime>
  <Words>339</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Rockwell</vt:lpstr>
      <vt:lpstr>Damask</vt:lpstr>
      <vt:lpstr>DATA STORYTELLING &amp; STATISTICAL VALIDATION</vt:lpstr>
      <vt:lpstr>PROJECT OBJECTIVE</vt:lpstr>
      <vt:lpstr>DATASET OVERVIEW </vt:lpstr>
      <vt:lpstr>Data Cleaning Summary</vt:lpstr>
      <vt:lpstr>EXPLORATORY DATA ANALYSIS</vt:lpstr>
      <vt:lpstr>SQL ANALYSIS INSIGHTS</vt:lpstr>
      <vt:lpstr>DASHBOARD HIGHLIGHTS</vt:lpstr>
      <vt:lpstr> business 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akshaya k</dc:creator>
  <cp:lastModifiedBy>akshaya k</cp:lastModifiedBy>
  <cp:revision>1</cp:revision>
  <dcterms:created xsi:type="dcterms:W3CDTF">2026-06-22T13:05:09Z</dcterms:created>
  <dcterms:modified xsi:type="dcterms:W3CDTF">2026-06-22T14:06:23Z</dcterms:modified>
</cp:coreProperties>
</file>